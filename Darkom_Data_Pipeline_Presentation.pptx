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DARKOM DATA PIPELINE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Enterprise Real Estate Analytics 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0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End-to-End Data Workflow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Moroccan real estate advertisement platform (darkom.ma)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raw CSV data into a structured, analytical data warehouse optimized for business intelligence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heterogeneous real estate data including properties for sale/rental across Morocco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dashboards with reliable KPIs and actionable insights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463040" cy="914400"/>
          </a:xfrm>
          <a:prstGeom prst="rect">
            <a:avLst/>
          </a:prstGeom>
          <a:solidFill>
            <a:srgbClr val="1C7293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65960" y="1828800"/>
            <a:ext cx="27432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240280" y="1371600"/>
            <a:ext cx="1463040" cy="914400"/>
          </a:xfrm>
          <a:prstGeom prst="rect">
            <a:avLst/>
          </a:prstGeom>
          <a:solidFill>
            <a:srgbClr val="1C7293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1554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40280" y="1920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Load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49040" y="1828800"/>
            <a:ext cx="27432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023360" y="1371600"/>
            <a:ext cx="1463040" cy="914400"/>
          </a:xfrm>
          <a:prstGeom prst="rect">
            <a:avLst/>
          </a:prstGeom>
          <a:solidFill>
            <a:srgbClr val="1C7293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1554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23360" y="1920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32120" y="1828800"/>
            <a:ext cx="27432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806440" y="1371600"/>
            <a:ext cx="1463040" cy="914400"/>
          </a:xfrm>
          <a:prstGeom prst="rect">
            <a:avLst/>
          </a:prstGeom>
          <a:solidFill>
            <a:srgbClr val="1C7293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1554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06440" y="1920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Schema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0" y="1828800"/>
            <a:ext cx="27432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589520" y="1371600"/>
            <a:ext cx="1463040" cy="914400"/>
          </a:xfrm>
          <a:prstGeom prst="rect">
            <a:avLst/>
          </a:prstGeom>
          <a:solidFill>
            <a:srgbClr val="1C7293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1554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89520" y="1920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3-Layer Architecture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3291840"/>
            <a:ext cx="54864" cy="5486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Layer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17520" y="329184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zone for raw data import with logging and integrity checks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023360"/>
            <a:ext cx="54864" cy="5486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023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Layer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017520" y="402336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quality, deduplication, outlier detection, feature engineering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754880"/>
            <a:ext cx="54864" cy="5486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Schema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017520" y="475488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modeling (star/snowflake), optimized for analytics and Power BI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LAYER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Import &amp; Quality Assurance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CSV to PostgreSQL staging table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original data without transformation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comprehensive logging mechanisms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validation checks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count verification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Data Columns: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137160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annonce_id • date_publication • titre • ville • quartier • type_bien • transaction • prix • surface • nb_chambres • nb_salles_bain • etage • annee_construction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LAYER - DATA TRANSFORMATION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Operations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Removal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eliminate duplicate records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nulls in quartier, nb_chambres, etage, annee_construction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extreme prix, surface, and nb_chambres values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 &amp; Engineering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0" y="128016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Conversion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NUMERIC, VARCHAR normalization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names, property types, transaction types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Price/m², Property age, Price/Surface categories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F0F3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Metrics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118872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m² (prix / surface)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categories: Economy, Medium, High Standard, Luxury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solidFill>
            <a:srgbClr val="F0F3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77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Characteristics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237744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age (current_year - annee_construction)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categories: Small (&lt;80m²), Medium (80-150m²), Large (&gt;150m²)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F0F3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Dimensions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356616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Month, Quarter from date_publication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trend analysis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patterns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Snowflake/Star Schema Architecture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OLAP queries and interactive analytics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Denormalized fact tables with foreign keys to dimension tables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fast aggregation and drill-down capabilities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0" y="2286000"/>
            <a:ext cx="1828800" cy="1097280"/>
          </a:xfrm>
          <a:prstGeom prst="rect">
            <a:avLst/>
          </a:prstGeom>
          <a:solidFill>
            <a:srgbClr val="E74C3C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24231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(annonces)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1280160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603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dim_temps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97280" y="3383280"/>
            <a:ext cx="0" cy="-1280160"/>
          </a:xfrm>
          <a:prstGeom prst="line">
            <a:avLst/>
          </a:prstGeom>
          <a:noFill/>
          <a:ln w="12700">
            <a:solidFill>
              <a:srgbClr val="065A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2286000"/>
            <a:ext cx="1280160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25603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dim_lieu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26080" y="3383280"/>
            <a:ext cx="0" cy="-1280160"/>
          </a:xfrm>
          <a:prstGeom prst="line">
            <a:avLst/>
          </a:prstGeom>
          <a:noFill/>
          <a:ln w="12700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0" y="2286000"/>
            <a:ext cx="1280160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25603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dim_propriete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3383280"/>
            <a:ext cx="0" cy="-1280160"/>
          </a:xfrm>
          <a:prstGeom prst="line">
            <a:avLst/>
          </a:prstGeom>
          <a:noFill/>
          <a:ln w="12700">
            <a:solidFill>
              <a:srgbClr val="065A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0" y="2286000"/>
            <a:ext cx="1280160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25603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dim_prix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38160" y="3383280"/>
            <a:ext cx="0" cy="-1280160"/>
          </a:xfrm>
          <a:prstGeom prst="line">
            <a:avLst/>
          </a:prstGeom>
          <a:noFill/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57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Measures: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9319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price (sum)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price per m²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announcements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surface area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3657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39319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indexing on dimensions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relationships validated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Denormalized aggregates for performance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optimization &amp; statistics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IMPLEMENTATION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Connection &amp; Preparation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bi_schema direct connection via Power BI Desktop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for final data quality checks and minor cleaning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validation and optimization for performance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mapping between fact and dimension tables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Calculated Measures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Price = AVERAGE([prix])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Ads = COUNT([annonce_id])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Price/m² = DIVIDE(SUM([prix]), SUM([surface]))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Surface = AVERAGE([surface])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Growth Rate = Year-over-year change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Features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27432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filters by city, property type, transaction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 slicers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area filters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 selection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capabilities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1: GLOBAL MARKET 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1097280"/>
          </a:xfrm>
          <a:prstGeom prst="rect">
            <a:avLst/>
          </a:prstGeom>
          <a:solidFill>
            <a:srgbClr val="1C7293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651760" cy="1097280"/>
          </a:xfrm>
          <a:prstGeom prst="rect">
            <a:avLst/>
          </a:prstGeom>
          <a:solidFill>
            <a:srgbClr val="1C7293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005840"/>
            <a:ext cx="2651760" cy="1097280"/>
          </a:xfrm>
          <a:prstGeom prst="rect">
            <a:avLst/>
          </a:prstGeom>
          <a:solidFill>
            <a:srgbClr val="1C7293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Surface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Visualizations: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Ads by City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283464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distribution map showing ad density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611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Ad Trends Over Time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68880" y="361188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tracking announcement volume by month/quarter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Property Type Distribution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68880" y="438912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Pie/donut chart: Apartment, Villa, Land, Office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5166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Sale vs Rental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68880" y="516636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breakdown of transaction types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2: PRICE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into Real Estate Pricing Dynamics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solidFill>
            <a:srgbClr val="F0F3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361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Distribution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1536192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showing price ranges and density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731520"/>
          </a:xfrm>
          <a:prstGeom prst="rect">
            <a:avLst/>
          </a:prstGeom>
          <a:solidFill>
            <a:srgbClr val="F0F3F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048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m² Analysis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2404872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cost efficiency across city/property type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solidFill>
            <a:srgbClr val="F0F3F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735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by Property Type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3273552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Bar/column chart comparing segment pricing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069080"/>
            <a:ext cx="8229600" cy="731520"/>
          </a:xfrm>
          <a:prstGeom prst="rect">
            <a:avLst/>
          </a:prstGeom>
          <a:solidFill>
            <a:srgbClr val="F0F3F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1422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Categories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4142232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Segmentation: Economy, Medium, High, Luxury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abri" pitchFamily="34" charset="0"/>
                <a:ea typeface="Calabri" pitchFamily="34" charset="-122"/>
                <a:cs typeface="Calabri" pitchFamily="34" charset="-120"/>
              </a:rPr>
              <a:t>DASHBOARD 3: GEOGRAPHIC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Insights into Morocco's Real Estate Market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solidFill>
            <a:srgbClr val="F0F3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361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by City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1536192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visualization showing geographic distribution and density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731520"/>
          </a:xfrm>
          <a:prstGeom prst="rect">
            <a:avLst/>
          </a:prstGeom>
          <a:solidFill>
            <a:srgbClr val="F0F3F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048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Heat Map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2404872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heatmap highlighting expensive vs affordable areas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solidFill>
            <a:srgbClr val="F0F3F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735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Cities Ranking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3273552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Most expensive cities, highest activity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069080"/>
            <a:ext cx="8229600" cy="731520"/>
          </a:xfrm>
          <a:prstGeom prst="rect">
            <a:avLst/>
          </a:prstGeom>
          <a:solidFill>
            <a:srgbClr val="F0F3F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1422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&amp; Neighborhood Analytics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4142232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capability: City → Neighborhoods → Price trends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4: TREND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Patterns and Market Evolution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solidFill>
            <a:srgbClr val="F0F3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361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Evolution Over Time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1536192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tracking average/median prices across months/quarters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731520"/>
          </a:xfrm>
          <a:prstGeom prst="rect">
            <a:avLst/>
          </a:prstGeom>
          <a:solidFill>
            <a:srgbClr val="F0F3F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048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Volume Trends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2404872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chart showing announcement publication patterns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solidFill>
            <a:srgbClr val="F0F3F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735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Analysis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3273552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peak and off-peak seasons in real estate activity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069080"/>
            <a:ext cx="8229600" cy="731520"/>
          </a:xfrm>
          <a:prstGeom prst="rect">
            <a:avLst/>
          </a:prstGeom>
          <a:solidFill>
            <a:srgbClr val="F0F3F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1422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Comparison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4142232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YoY/QoQ growth rates and performance metrics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3657600"/>
          </a:xfrm>
          <a:prstGeom prst="rect">
            <a:avLst/>
          </a:prstGeom>
          <a:solidFill>
            <a:srgbClr val="F0F3F5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265176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architecture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| Clean | Warehouse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Primary/Foreign Keys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Queries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651760" cy="3657600"/>
          </a:xfrm>
          <a:prstGeom prst="rect">
            <a:avLst/>
          </a:prstGeom>
          <a:solidFill>
            <a:srgbClr val="F0F3F5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005840"/>
            <a:ext cx="2651760" cy="4572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051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&amp; Processing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164592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DataFrames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Transformations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51760" cy="3657600"/>
          </a:xfrm>
          <a:prstGeom prst="rect">
            <a:avLst/>
          </a:prstGeom>
          <a:solidFill>
            <a:srgbClr val="F0F3F5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005840"/>
            <a:ext cx="265176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051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BI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164592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Filters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0241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10241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3-layer architecture with schema, tables, and indexes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7556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File (.pbix)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17556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interactive dashboards with dynamic filters and KPI cards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487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ETL Scripts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24871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pipeline for staging, cleaning, and warehouse loading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2186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32186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technical documentation and data dictionary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950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39502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with structured folder organization and README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Duplicates removed and validated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Missing values handled appropriately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Outliers detected and processed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Data types correctly standardized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Feature engineering completed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Performance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13716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Warehouse schema properly indexed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Relationships validated and optimized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Power BI connections functional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Dashboards responsive and interactive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KPIs accurate and meaningful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Organization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Clear layer separation (Staging, Clean, Warehouse)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GitHub repository with structured organization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 documentation and data dictionary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Jira tracking with clear progress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EXCELLENCE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CSV to Strategic Business Intelligence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→ Analytical Warehouse → Interactive Dashboards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data-driven decision making in Morocco's real estate market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Darkom Real Estate Data Pipeline</dc:title>
  <dc:subject>PptxGenJS Presentation</dc:subject>
  <dc:creator>Darkom Team</dc:creator>
  <cp:lastModifiedBy>Darkom Team</cp:lastModifiedBy>
  <cp:revision>1</cp:revision>
  <dcterms:created xsi:type="dcterms:W3CDTF">2026-06-01T15:51:14Z</dcterms:created>
  <dcterms:modified xsi:type="dcterms:W3CDTF">2026-06-01T15:51:14Z</dcterms:modified>
</cp:coreProperties>
</file>